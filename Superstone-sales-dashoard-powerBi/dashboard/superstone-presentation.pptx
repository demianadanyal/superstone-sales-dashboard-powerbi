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9" r:id="rId3"/>
    <p:sldId id="270" r:id="rId4"/>
    <p:sldId id="266" r:id="rId5"/>
    <p:sldId id="267" r:id="rId6"/>
    <p:sldId id="269" r:id="rId7"/>
    <p:sldId id="268" r:id="rId8"/>
  </p:sldIdLst>
  <p:sldSz cx="18288000" cy="10287000"/>
  <p:notesSz cx="6858000" cy="9144000"/>
  <p:embeddedFontLst>
    <p:embeddedFont>
      <p:font typeface="Red Hat Display Bold" panose="020B0604020202020204" charset="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760629" y="-2095015"/>
            <a:ext cx="10960234" cy="7472887"/>
          </a:xfrm>
          <a:custGeom>
            <a:avLst/>
            <a:gdLst/>
            <a:ahLst/>
            <a:cxnLst/>
            <a:rect l="l" t="t" r="r" b="b"/>
            <a:pathLst>
              <a:path w="10960234" h="7472887">
                <a:moveTo>
                  <a:pt x="0" y="0"/>
                </a:moveTo>
                <a:lnTo>
                  <a:pt x="10960234" y="0"/>
                </a:lnTo>
                <a:lnTo>
                  <a:pt x="10960234" y="7472887"/>
                </a:lnTo>
                <a:lnTo>
                  <a:pt x="0" y="74728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635325">
            <a:off x="-1336143" y="6923321"/>
            <a:ext cx="9442126" cy="8000056"/>
          </a:xfrm>
          <a:custGeom>
            <a:avLst/>
            <a:gdLst/>
            <a:ahLst/>
            <a:cxnLst/>
            <a:rect l="l" t="t" r="r" b="b"/>
            <a:pathLst>
              <a:path w="9442126" h="8000056">
                <a:moveTo>
                  <a:pt x="0" y="0"/>
                </a:moveTo>
                <a:lnTo>
                  <a:pt x="9442126" y="0"/>
                </a:lnTo>
                <a:lnTo>
                  <a:pt x="9442126" y="8000056"/>
                </a:lnTo>
                <a:lnTo>
                  <a:pt x="0" y="80000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226878">
            <a:off x="-535471" y="-118252"/>
            <a:ext cx="4576141" cy="2579280"/>
          </a:xfrm>
          <a:custGeom>
            <a:avLst/>
            <a:gdLst/>
            <a:ahLst/>
            <a:cxnLst/>
            <a:rect l="l" t="t" r="r" b="b"/>
            <a:pathLst>
              <a:path w="4576141" h="2579280">
                <a:moveTo>
                  <a:pt x="0" y="0"/>
                </a:moveTo>
                <a:lnTo>
                  <a:pt x="4576141" y="0"/>
                </a:lnTo>
                <a:lnTo>
                  <a:pt x="4576141" y="2579280"/>
                </a:lnTo>
                <a:lnTo>
                  <a:pt x="0" y="25792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6" name="Freeform 6"/>
          <p:cNvSpPr/>
          <p:nvPr/>
        </p:nvSpPr>
        <p:spPr>
          <a:xfrm rot="2830696">
            <a:off x="12315724" y="8229600"/>
            <a:ext cx="2835471" cy="4114800"/>
          </a:xfrm>
          <a:custGeom>
            <a:avLst/>
            <a:gdLst/>
            <a:ahLst/>
            <a:cxnLst/>
            <a:rect l="l" t="t" r="r" b="b"/>
            <a:pathLst>
              <a:path w="2835471" h="4114800">
                <a:moveTo>
                  <a:pt x="0" y="0"/>
                </a:moveTo>
                <a:lnTo>
                  <a:pt x="2835471" y="0"/>
                </a:lnTo>
                <a:lnTo>
                  <a:pt x="28354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657828" y="2707555"/>
            <a:ext cx="8584317" cy="22258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800"/>
              </a:lnSpc>
            </a:pPr>
            <a:r>
              <a:rPr lang="en-US" sz="4800" b="1" dirty="0">
                <a:solidFill>
                  <a:srgbClr val="2D2261"/>
                </a:solidFill>
                <a:latin typeface="Red Hat Display Bold"/>
              </a:rPr>
              <a:t>SUPERSTORE SALES &amp; PROFITABILITY DASHBOARD</a:t>
            </a:r>
            <a:r>
              <a:rPr lang="en-US" sz="7074" b="1" dirty="0">
                <a:solidFill>
                  <a:srgbClr val="2D2261"/>
                </a:solidFill>
                <a:latin typeface="Red Hat Display Bold"/>
                <a:sym typeface="Red Hat Display Bold"/>
              </a:rPr>
              <a:t>:</a:t>
            </a:r>
            <a:endParaRPr lang="en-US" sz="7074" b="1" dirty="0">
              <a:solidFill>
                <a:srgbClr val="2D2261"/>
              </a:solidFill>
              <a:latin typeface="Red Hat Display Bold"/>
              <a:ea typeface="Red Hat Display Bold"/>
              <a:cs typeface="Red Hat Display Bold"/>
              <a:sym typeface="Red Hat Display Bold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7C8CBEA-904E-8561-987C-41326CDDFDF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3552" y="1437829"/>
            <a:ext cx="6911848" cy="69118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76401" y="841708"/>
            <a:ext cx="12268200" cy="15226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065"/>
              </a:lnSpc>
            </a:pPr>
            <a:r>
              <a:rPr lang="en-US" sz="4332" b="1" dirty="0">
                <a:solidFill>
                  <a:srgbClr val="2D2261"/>
                </a:solidFill>
                <a:latin typeface="Red Hat Display Bold"/>
              </a:rPr>
              <a:t>Q1. How has sales performance changed over the years?</a:t>
            </a:r>
            <a:endParaRPr lang="en-US" sz="4332" b="1" dirty="0">
              <a:solidFill>
                <a:srgbClr val="2D2261"/>
              </a:solidFill>
              <a:latin typeface="Red Hat Display Bold"/>
              <a:ea typeface="Red Hat Display Bold"/>
              <a:cs typeface="Red Hat Display Bold"/>
              <a:sym typeface="Red Hat Display Bold"/>
            </a:endParaRPr>
          </a:p>
        </p:txBody>
      </p:sp>
      <p:sp>
        <p:nvSpPr>
          <p:cNvPr id="35" name="Freeform 35"/>
          <p:cNvSpPr/>
          <p:nvPr/>
        </p:nvSpPr>
        <p:spPr>
          <a:xfrm rot="-2080684">
            <a:off x="10082077" y="8242051"/>
            <a:ext cx="10960234" cy="7472887"/>
          </a:xfrm>
          <a:custGeom>
            <a:avLst/>
            <a:gdLst/>
            <a:ahLst/>
            <a:cxnLst/>
            <a:rect l="l" t="t" r="r" b="b"/>
            <a:pathLst>
              <a:path w="10960234" h="7472887">
                <a:moveTo>
                  <a:pt x="0" y="0"/>
                </a:moveTo>
                <a:lnTo>
                  <a:pt x="10960235" y="0"/>
                </a:lnTo>
                <a:lnTo>
                  <a:pt x="10960235" y="7472887"/>
                </a:lnTo>
                <a:lnTo>
                  <a:pt x="0" y="74728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6" name="Freeform 36"/>
          <p:cNvSpPr/>
          <p:nvPr/>
        </p:nvSpPr>
        <p:spPr>
          <a:xfrm rot="9426524">
            <a:off x="-3984660" y="-4765086"/>
            <a:ext cx="9442126" cy="8000056"/>
          </a:xfrm>
          <a:custGeom>
            <a:avLst/>
            <a:gdLst/>
            <a:ahLst/>
            <a:cxnLst/>
            <a:rect l="l" t="t" r="r" b="b"/>
            <a:pathLst>
              <a:path w="9442126" h="8000056">
                <a:moveTo>
                  <a:pt x="0" y="0"/>
                </a:moveTo>
                <a:lnTo>
                  <a:pt x="9442126" y="0"/>
                </a:lnTo>
                <a:lnTo>
                  <a:pt x="9442126" y="8000056"/>
                </a:lnTo>
                <a:lnTo>
                  <a:pt x="0" y="80000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7" name="Freeform 37"/>
          <p:cNvSpPr/>
          <p:nvPr/>
        </p:nvSpPr>
        <p:spPr>
          <a:xfrm rot="-2624874">
            <a:off x="-884948" y="9077955"/>
            <a:ext cx="3242701" cy="1827704"/>
          </a:xfrm>
          <a:custGeom>
            <a:avLst/>
            <a:gdLst/>
            <a:ahLst/>
            <a:cxnLst/>
            <a:rect l="l" t="t" r="r" b="b"/>
            <a:pathLst>
              <a:path w="3242701" h="1827704">
                <a:moveTo>
                  <a:pt x="0" y="0"/>
                </a:moveTo>
                <a:lnTo>
                  <a:pt x="3242701" y="0"/>
                </a:lnTo>
                <a:lnTo>
                  <a:pt x="3242701" y="1827704"/>
                </a:lnTo>
                <a:lnTo>
                  <a:pt x="0" y="18277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8" name="Freeform 38"/>
          <p:cNvSpPr/>
          <p:nvPr/>
        </p:nvSpPr>
        <p:spPr>
          <a:xfrm rot="2830696">
            <a:off x="16075185" y="-1028700"/>
            <a:ext cx="2835471" cy="4114800"/>
          </a:xfrm>
          <a:custGeom>
            <a:avLst/>
            <a:gdLst/>
            <a:ahLst/>
            <a:cxnLst/>
            <a:rect l="l" t="t" r="r" b="b"/>
            <a:pathLst>
              <a:path w="2835471" h="4114800">
                <a:moveTo>
                  <a:pt x="0" y="0"/>
                </a:moveTo>
                <a:lnTo>
                  <a:pt x="2835471" y="0"/>
                </a:lnTo>
                <a:lnTo>
                  <a:pt x="28354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E0343AC-689C-16BA-1D91-1FA5CC909EB0}"/>
              </a:ext>
            </a:extLst>
          </p:cNvPr>
          <p:cNvSpPr txBox="1"/>
          <p:nvPr/>
        </p:nvSpPr>
        <p:spPr>
          <a:xfrm>
            <a:off x="736402" y="3226517"/>
            <a:ext cx="721776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Sales increased steadily over the analyzed years, with the strongest growth occurring between 2017 and 2018.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7767424-76BB-EF05-57E5-4DEFCFC1296E}"/>
              </a:ext>
            </a:extLst>
          </p:cNvPr>
          <p:cNvSpPr txBox="1"/>
          <p:nvPr/>
        </p:nvSpPr>
        <p:spPr>
          <a:xfrm>
            <a:off x="304800" y="6338584"/>
            <a:ext cx="8305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Recommendation:</a:t>
            </a:r>
          </a:p>
          <a:p>
            <a:pPr algn="ctr"/>
            <a:r>
              <a:rPr lang="en-US" sz="2800" dirty="0"/>
              <a:t>The business should investigate the factors that contributed to the strong sales growth and replicate successful strategies in future years.</a:t>
            </a: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A3D4FBAB-C6D4-EE61-CCC8-0551D149F9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9357" y="2968752"/>
            <a:ext cx="8229492" cy="563807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A8943-1093-488B-4670-8BA87C023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BD6741BE-287C-9F66-71E2-2895B3CADFC1}"/>
              </a:ext>
            </a:extLst>
          </p:cNvPr>
          <p:cNvSpPr txBox="1"/>
          <p:nvPr/>
        </p:nvSpPr>
        <p:spPr>
          <a:xfrm>
            <a:off x="1676400" y="841708"/>
            <a:ext cx="13106399" cy="15226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065"/>
              </a:lnSpc>
            </a:pPr>
            <a:r>
              <a:rPr lang="en-US" sz="4332" b="1" dirty="0">
                <a:solidFill>
                  <a:srgbClr val="2D2261"/>
                </a:solidFill>
                <a:latin typeface="Red Hat Display Bold"/>
              </a:rPr>
              <a:t>Q2. How does monthly sales performance compare with the previous month?</a:t>
            </a:r>
            <a:endParaRPr lang="en-US" sz="4332" b="1" dirty="0">
              <a:solidFill>
                <a:srgbClr val="2D2261"/>
              </a:solidFill>
              <a:latin typeface="Red Hat Display Bold"/>
              <a:ea typeface="Red Hat Display Bold"/>
              <a:cs typeface="Red Hat Display Bold"/>
              <a:sym typeface="Red Hat Display Bold"/>
            </a:endParaRPr>
          </a:p>
        </p:txBody>
      </p:sp>
      <p:sp>
        <p:nvSpPr>
          <p:cNvPr id="35" name="Freeform 35">
            <a:extLst>
              <a:ext uri="{FF2B5EF4-FFF2-40B4-BE49-F238E27FC236}">
                <a16:creationId xmlns:a16="http://schemas.microsoft.com/office/drawing/2014/main" id="{943A2199-4DA0-08E3-1A33-D7FBE3CB8058}"/>
              </a:ext>
            </a:extLst>
          </p:cNvPr>
          <p:cNvSpPr/>
          <p:nvPr/>
        </p:nvSpPr>
        <p:spPr>
          <a:xfrm rot="-2080684">
            <a:off x="10082077" y="8242051"/>
            <a:ext cx="10960234" cy="7472887"/>
          </a:xfrm>
          <a:custGeom>
            <a:avLst/>
            <a:gdLst/>
            <a:ahLst/>
            <a:cxnLst/>
            <a:rect l="l" t="t" r="r" b="b"/>
            <a:pathLst>
              <a:path w="10960234" h="7472887">
                <a:moveTo>
                  <a:pt x="0" y="0"/>
                </a:moveTo>
                <a:lnTo>
                  <a:pt x="10960235" y="0"/>
                </a:lnTo>
                <a:lnTo>
                  <a:pt x="10960235" y="7472887"/>
                </a:lnTo>
                <a:lnTo>
                  <a:pt x="0" y="74728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6" name="Freeform 36">
            <a:extLst>
              <a:ext uri="{FF2B5EF4-FFF2-40B4-BE49-F238E27FC236}">
                <a16:creationId xmlns:a16="http://schemas.microsoft.com/office/drawing/2014/main" id="{3688DD01-098B-BEBC-7441-0C8882659E4B}"/>
              </a:ext>
            </a:extLst>
          </p:cNvPr>
          <p:cNvSpPr/>
          <p:nvPr/>
        </p:nvSpPr>
        <p:spPr>
          <a:xfrm rot="9426524">
            <a:off x="-3984660" y="-4765086"/>
            <a:ext cx="9442126" cy="8000056"/>
          </a:xfrm>
          <a:custGeom>
            <a:avLst/>
            <a:gdLst/>
            <a:ahLst/>
            <a:cxnLst/>
            <a:rect l="l" t="t" r="r" b="b"/>
            <a:pathLst>
              <a:path w="9442126" h="8000056">
                <a:moveTo>
                  <a:pt x="0" y="0"/>
                </a:moveTo>
                <a:lnTo>
                  <a:pt x="9442126" y="0"/>
                </a:lnTo>
                <a:lnTo>
                  <a:pt x="9442126" y="8000056"/>
                </a:lnTo>
                <a:lnTo>
                  <a:pt x="0" y="80000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7" name="Freeform 37">
            <a:extLst>
              <a:ext uri="{FF2B5EF4-FFF2-40B4-BE49-F238E27FC236}">
                <a16:creationId xmlns:a16="http://schemas.microsoft.com/office/drawing/2014/main" id="{7E15391D-C985-7611-244D-E20E5CC815CA}"/>
              </a:ext>
            </a:extLst>
          </p:cNvPr>
          <p:cNvSpPr/>
          <p:nvPr/>
        </p:nvSpPr>
        <p:spPr>
          <a:xfrm rot="-2624874">
            <a:off x="-884948" y="9077955"/>
            <a:ext cx="3242701" cy="1827704"/>
          </a:xfrm>
          <a:custGeom>
            <a:avLst/>
            <a:gdLst/>
            <a:ahLst/>
            <a:cxnLst/>
            <a:rect l="l" t="t" r="r" b="b"/>
            <a:pathLst>
              <a:path w="3242701" h="1827704">
                <a:moveTo>
                  <a:pt x="0" y="0"/>
                </a:moveTo>
                <a:lnTo>
                  <a:pt x="3242701" y="0"/>
                </a:lnTo>
                <a:lnTo>
                  <a:pt x="3242701" y="1827704"/>
                </a:lnTo>
                <a:lnTo>
                  <a:pt x="0" y="18277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8" name="Freeform 38">
            <a:extLst>
              <a:ext uri="{FF2B5EF4-FFF2-40B4-BE49-F238E27FC236}">
                <a16:creationId xmlns:a16="http://schemas.microsoft.com/office/drawing/2014/main" id="{EFAAFCD0-F570-F3F5-9E96-AF9B34064559}"/>
              </a:ext>
            </a:extLst>
          </p:cNvPr>
          <p:cNvSpPr/>
          <p:nvPr/>
        </p:nvSpPr>
        <p:spPr>
          <a:xfrm rot="2830696">
            <a:off x="16075185" y="-1028700"/>
            <a:ext cx="2835471" cy="4114800"/>
          </a:xfrm>
          <a:custGeom>
            <a:avLst/>
            <a:gdLst/>
            <a:ahLst/>
            <a:cxnLst/>
            <a:rect l="l" t="t" r="r" b="b"/>
            <a:pathLst>
              <a:path w="2835471" h="4114800">
                <a:moveTo>
                  <a:pt x="0" y="0"/>
                </a:moveTo>
                <a:lnTo>
                  <a:pt x="2835471" y="0"/>
                </a:lnTo>
                <a:lnTo>
                  <a:pt x="28354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053BA6F-07D6-6821-3F52-95370D3EA29B}"/>
              </a:ext>
            </a:extLst>
          </p:cNvPr>
          <p:cNvSpPr txBox="1"/>
          <p:nvPr/>
        </p:nvSpPr>
        <p:spPr>
          <a:xfrm>
            <a:off x="787188" y="3371368"/>
            <a:ext cx="782716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Monthly sales fluctuate throughout the year, with several months showing significant increases or decreases compared with the previous month.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FBB51AF-4F25-183B-3492-371ED382F43A}"/>
              </a:ext>
            </a:extLst>
          </p:cNvPr>
          <p:cNvSpPr txBox="1"/>
          <p:nvPr/>
        </p:nvSpPr>
        <p:spPr>
          <a:xfrm>
            <a:off x="304800" y="6338584"/>
            <a:ext cx="8305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Recommendation:</a:t>
            </a:r>
          </a:p>
          <a:p>
            <a:pPr algn="ctr"/>
            <a:r>
              <a:rPr lang="en-US" sz="2800" dirty="0"/>
              <a:t>The business should analyze seasonal patterns and investigate the reasons behind significant monthly changes to improve sales forecasting and planning.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0FD19D-F953-AA77-8A01-C835B5F394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8013" y="2552700"/>
            <a:ext cx="8864968" cy="5922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5741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2BF00-FDED-51E2-30E5-CA40E9517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687CFC4-E93E-8B26-CA77-0DFE22C6CEB6}"/>
              </a:ext>
            </a:extLst>
          </p:cNvPr>
          <p:cNvSpPr txBox="1"/>
          <p:nvPr/>
        </p:nvSpPr>
        <p:spPr>
          <a:xfrm>
            <a:off x="1676400" y="841708"/>
            <a:ext cx="13106399" cy="15226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065"/>
              </a:lnSpc>
            </a:pPr>
            <a:r>
              <a:rPr lang="en-US" sz="4332" b="1" dirty="0">
                <a:solidFill>
                  <a:srgbClr val="2D2261"/>
                </a:solidFill>
                <a:latin typeface="Red Hat Display Bold"/>
              </a:rPr>
              <a:t>Q3. Which product categories contribute most to sales and profit?</a:t>
            </a:r>
            <a:endParaRPr lang="en-US" sz="4332" b="1" dirty="0">
              <a:solidFill>
                <a:srgbClr val="2D2261"/>
              </a:solidFill>
              <a:latin typeface="Red Hat Display Bold"/>
              <a:ea typeface="Red Hat Display Bold"/>
              <a:cs typeface="Red Hat Display Bold"/>
              <a:sym typeface="Red Hat Display Bold"/>
            </a:endParaRPr>
          </a:p>
        </p:txBody>
      </p:sp>
      <p:sp>
        <p:nvSpPr>
          <p:cNvPr id="35" name="Freeform 35">
            <a:extLst>
              <a:ext uri="{FF2B5EF4-FFF2-40B4-BE49-F238E27FC236}">
                <a16:creationId xmlns:a16="http://schemas.microsoft.com/office/drawing/2014/main" id="{94C34147-2C64-AA2F-6428-7FA18F214070}"/>
              </a:ext>
            </a:extLst>
          </p:cNvPr>
          <p:cNvSpPr/>
          <p:nvPr/>
        </p:nvSpPr>
        <p:spPr>
          <a:xfrm rot="-2080684">
            <a:off x="10082077" y="8242051"/>
            <a:ext cx="10960234" cy="7472887"/>
          </a:xfrm>
          <a:custGeom>
            <a:avLst/>
            <a:gdLst/>
            <a:ahLst/>
            <a:cxnLst/>
            <a:rect l="l" t="t" r="r" b="b"/>
            <a:pathLst>
              <a:path w="10960234" h="7472887">
                <a:moveTo>
                  <a:pt x="0" y="0"/>
                </a:moveTo>
                <a:lnTo>
                  <a:pt x="10960235" y="0"/>
                </a:lnTo>
                <a:lnTo>
                  <a:pt x="10960235" y="7472887"/>
                </a:lnTo>
                <a:lnTo>
                  <a:pt x="0" y="74728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6" name="Freeform 36">
            <a:extLst>
              <a:ext uri="{FF2B5EF4-FFF2-40B4-BE49-F238E27FC236}">
                <a16:creationId xmlns:a16="http://schemas.microsoft.com/office/drawing/2014/main" id="{B321504C-C592-4C38-55FA-5616B04E3505}"/>
              </a:ext>
            </a:extLst>
          </p:cNvPr>
          <p:cNvSpPr/>
          <p:nvPr/>
        </p:nvSpPr>
        <p:spPr>
          <a:xfrm rot="9426524">
            <a:off x="-3984660" y="-4765086"/>
            <a:ext cx="9442126" cy="8000056"/>
          </a:xfrm>
          <a:custGeom>
            <a:avLst/>
            <a:gdLst/>
            <a:ahLst/>
            <a:cxnLst/>
            <a:rect l="l" t="t" r="r" b="b"/>
            <a:pathLst>
              <a:path w="9442126" h="8000056">
                <a:moveTo>
                  <a:pt x="0" y="0"/>
                </a:moveTo>
                <a:lnTo>
                  <a:pt x="9442126" y="0"/>
                </a:lnTo>
                <a:lnTo>
                  <a:pt x="9442126" y="8000056"/>
                </a:lnTo>
                <a:lnTo>
                  <a:pt x="0" y="80000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7" name="Freeform 37">
            <a:extLst>
              <a:ext uri="{FF2B5EF4-FFF2-40B4-BE49-F238E27FC236}">
                <a16:creationId xmlns:a16="http://schemas.microsoft.com/office/drawing/2014/main" id="{3DF139EC-4441-C564-302A-A1A5C7A166AB}"/>
              </a:ext>
            </a:extLst>
          </p:cNvPr>
          <p:cNvSpPr/>
          <p:nvPr/>
        </p:nvSpPr>
        <p:spPr>
          <a:xfrm rot="-2624874">
            <a:off x="-884948" y="9077955"/>
            <a:ext cx="3242701" cy="1827704"/>
          </a:xfrm>
          <a:custGeom>
            <a:avLst/>
            <a:gdLst/>
            <a:ahLst/>
            <a:cxnLst/>
            <a:rect l="l" t="t" r="r" b="b"/>
            <a:pathLst>
              <a:path w="3242701" h="1827704">
                <a:moveTo>
                  <a:pt x="0" y="0"/>
                </a:moveTo>
                <a:lnTo>
                  <a:pt x="3242701" y="0"/>
                </a:lnTo>
                <a:lnTo>
                  <a:pt x="3242701" y="1827704"/>
                </a:lnTo>
                <a:lnTo>
                  <a:pt x="0" y="18277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8" name="Freeform 38">
            <a:extLst>
              <a:ext uri="{FF2B5EF4-FFF2-40B4-BE49-F238E27FC236}">
                <a16:creationId xmlns:a16="http://schemas.microsoft.com/office/drawing/2014/main" id="{0B1CA939-9791-4920-9CF1-80F36566043B}"/>
              </a:ext>
            </a:extLst>
          </p:cNvPr>
          <p:cNvSpPr/>
          <p:nvPr/>
        </p:nvSpPr>
        <p:spPr>
          <a:xfrm rot="2830696">
            <a:off x="16075185" y="-1028700"/>
            <a:ext cx="2835471" cy="4114800"/>
          </a:xfrm>
          <a:custGeom>
            <a:avLst/>
            <a:gdLst/>
            <a:ahLst/>
            <a:cxnLst/>
            <a:rect l="l" t="t" r="r" b="b"/>
            <a:pathLst>
              <a:path w="2835471" h="4114800">
                <a:moveTo>
                  <a:pt x="0" y="0"/>
                </a:moveTo>
                <a:lnTo>
                  <a:pt x="2835471" y="0"/>
                </a:lnTo>
                <a:lnTo>
                  <a:pt x="28354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449629C-0BC3-3283-0378-93C4F1E0BF4E}"/>
              </a:ext>
            </a:extLst>
          </p:cNvPr>
          <p:cNvSpPr txBox="1"/>
          <p:nvPr/>
        </p:nvSpPr>
        <p:spPr>
          <a:xfrm>
            <a:off x="362328" y="6277349"/>
            <a:ext cx="8305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Recommendation:</a:t>
            </a:r>
          </a:p>
          <a:p>
            <a:pPr algn="ctr"/>
            <a:r>
              <a:rPr lang="en-US" sz="2800" dirty="0"/>
              <a:t>The business should continue investing in Technology while investigating pricing, costs, and discount strategies affecting Furniture profitability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C3546E-932C-FF0A-F126-FF5620A462B6}"/>
              </a:ext>
            </a:extLst>
          </p:cNvPr>
          <p:cNvSpPr txBox="1"/>
          <p:nvPr/>
        </p:nvSpPr>
        <p:spPr>
          <a:xfrm>
            <a:off x="736402" y="3254092"/>
            <a:ext cx="755765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Technology is the most profitable category, while Furniture generates significantly lower profit compared with Technology and Office Supplies.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EE80761-4265-2CFC-1793-FF7A6DF970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3430" y="3166047"/>
            <a:ext cx="7956511" cy="5635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77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920F6-29AC-5515-D91A-81106A172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A647E14E-312F-AE50-3A63-799F77943FC3}"/>
              </a:ext>
            </a:extLst>
          </p:cNvPr>
          <p:cNvSpPr txBox="1"/>
          <p:nvPr/>
        </p:nvSpPr>
        <p:spPr>
          <a:xfrm>
            <a:off x="1822461" y="921285"/>
            <a:ext cx="12725400" cy="15226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065"/>
              </a:lnSpc>
            </a:pPr>
            <a:r>
              <a:rPr lang="en-US" sz="4332" b="1" dirty="0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Q4 : Which customer segment generates the highest profit?</a:t>
            </a:r>
          </a:p>
        </p:txBody>
      </p:sp>
      <p:sp>
        <p:nvSpPr>
          <p:cNvPr id="35" name="Freeform 35">
            <a:extLst>
              <a:ext uri="{FF2B5EF4-FFF2-40B4-BE49-F238E27FC236}">
                <a16:creationId xmlns:a16="http://schemas.microsoft.com/office/drawing/2014/main" id="{6DC636FE-F578-69C6-FE1A-8A363CB452C1}"/>
              </a:ext>
            </a:extLst>
          </p:cNvPr>
          <p:cNvSpPr/>
          <p:nvPr/>
        </p:nvSpPr>
        <p:spPr>
          <a:xfrm rot="-2080684">
            <a:off x="10082077" y="8242051"/>
            <a:ext cx="10960234" cy="7472887"/>
          </a:xfrm>
          <a:custGeom>
            <a:avLst/>
            <a:gdLst/>
            <a:ahLst/>
            <a:cxnLst/>
            <a:rect l="l" t="t" r="r" b="b"/>
            <a:pathLst>
              <a:path w="10960234" h="7472887">
                <a:moveTo>
                  <a:pt x="0" y="0"/>
                </a:moveTo>
                <a:lnTo>
                  <a:pt x="10960235" y="0"/>
                </a:lnTo>
                <a:lnTo>
                  <a:pt x="10960235" y="7472887"/>
                </a:lnTo>
                <a:lnTo>
                  <a:pt x="0" y="74728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6" name="Freeform 36">
            <a:extLst>
              <a:ext uri="{FF2B5EF4-FFF2-40B4-BE49-F238E27FC236}">
                <a16:creationId xmlns:a16="http://schemas.microsoft.com/office/drawing/2014/main" id="{B310E8CB-3E6F-BCE7-AFC2-3DB04E153D36}"/>
              </a:ext>
            </a:extLst>
          </p:cNvPr>
          <p:cNvSpPr/>
          <p:nvPr/>
        </p:nvSpPr>
        <p:spPr>
          <a:xfrm rot="9426524">
            <a:off x="-3984660" y="-4765086"/>
            <a:ext cx="9442126" cy="8000056"/>
          </a:xfrm>
          <a:custGeom>
            <a:avLst/>
            <a:gdLst/>
            <a:ahLst/>
            <a:cxnLst/>
            <a:rect l="l" t="t" r="r" b="b"/>
            <a:pathLst>
              <a:path w="9442126" h="8000056">
                <a:moveTo>
                  <a:pt x="0" y="0"/>
                </a:moveTo>
                <a:lnTo>
                  <a:pt x="9442126" y="0"/>
                </a:lnTo>
                <a:lnTo>
                  <a:pt x="9442126" y="8000056"/>
                </a:lnTo>
                <a:lnTo>
                  <a:pt x="0" y="80000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7" name="Freeform 37">
            <a:extLst>
              <a:ext uri="{FF2B5EF4-FFF2-40B4-BE49-F238E27FC236}">
                <a16:creationId xmlns:a16="http://schemas.microsoft.com/office/drawing/2014/main" id="{B0EB2B5F-3B87-595E-864C-11040F47FBCC}"/>
              </a:ext>
            </a:extLst>
          </p:cNvPr>
          <p:cNvSpPr/>
          <p:nvPr/>
        </p:nvSpPr>
        <p:spPr>
          <a:xfrm rot="-2624874">
            <a:off x="-884948" y="9077955"/>
            <a:ext cx="3242701" cy="1827704"/>
          </a:xfrm>
          <a:custGeom>
            <a:avLst/>
            <a:gdLst/>
            <a:ahLst/>
            <a:cxnLst/>
            <a:rect l="l" t="t" r="r" b="b"/>
            <a:pathLst>
              <a:path w="3242701" h="1827704">
                <a:moveTo>
                  <a:pt x="0" y="0"/>
                </a:moveTo>
                <a:lnTo>
                  <a:pt x="3242701" y="0"/>
                </a:lnTo>
                <a:lnTo>
                  <a:pt x="3242701" y="1827704"/>
                </a:lnTo>
                <a:lnTo>
                  <a:pt x="0" y="18277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8" name="Freeform 38">
            <a:extLst>
              <a:ext uri="{FF2B5EF4-FFF2-40B4-BE49-F238E27FC236}">
                <a16:creationId xmlns:a16="http://schemas.microsoft.com/office/drawing/2014/main" id="{E8910DA2-FF9B-12C2-BC2E-2257605230BB}"/>
              </a:ext>
            </a:extLst>
          </p:cNvPr>
          <p:cNvSpPr/>
          <p:nvPr/>
        </p:nvSpPr>
        <p:spPr>
          <a:xfrm rot="2830696">
            <a:off x="16075185" y="-1028700"/>
            <a:ext cx="2835471" cy="4114800"/>
          </a:xfrm>
          <a:custGeom>
            <a:avLst/>
            <a:gdLst/>
            <a:ahLst/>
            <a:cxnLst/>
            <a:rect l="l" t="t" r="r" b="b"/>
            <a:pathLst>
              <a:path w="2835471" h="4114800">
                <a:moveTo>
                  <a:pt x="0" y="0"/>
                </a:moveTo>
                <a:lnTo>
                  <a:pt x="2835471" y="0"/>
                </a:lnTo>
                <a:lnTo>
                  <a:pt x="28354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CEE2E95-0F9C-0226-D8FB-968FFEB247A7}"/>
              </a:ext>
            </a:extLst>
          </p:cNvPr>
          <p:cNvSpPr txBox="1"/>
          <p:nvPr/>
        </p:nvSpPr>
        <p:spPr>
          <a:xfrm>
            <a:off x="554632" y="5143500"/>
            <a:ext cx="775940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Recommendation:</a:t>
            </a:r>
          </a:p>
          <a:p>
            <a:pPr algn="ctr"/>
            <a:r>
              <a:rPr lang="en-US" sz="2800" dirty="0"/>
              <a:t>The company should maintain strong engagement with Consumer customers while developing targeted strategies to increase profitability in the Corporate and Home Office segments.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14FC87-FE4B-2794-61A7-50B64C5C4142}"/>
              </a:ext>
            </a:extLst>
          </p:cNvPr>
          <p:cNvSpPr txBox="1"/>
          <p:nvPr/>
        </p:nvSpPr>
        <p:spPr>
          <a:xfrm>
            <a:off x="756389" y="2922335"/>
            <a:ext cx="755765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The Consumer segment is the most profitable, contributing approximately 50.57% of total profit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0A680D2-FEC0-C47A-3B9A-B1070B03BF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9057" y="3190602"/>
            <a:ext cx="9693049" cy="5290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4986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0B20E-1637-CB3B-945F-66EA2E61A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15DAD9FB-76DF-ED9A-E789-48190D187EB8}"/>
              </a:ext>
            </a:extLst>
          </p:cNvPr>
          <p:cNvSpPr txBox="1"/>
          <p:nvPr/>
        </p:nvSpPr>
        <p:spPr>
          <a:xfrm>
            <a:off x="1676400" y="841708"/>
            <a:ext cx="13106399" cy="15226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065"/>
              </a:lnSpc>
            </a:pPr>
            <a:r>
              <a:rPr lang="en-US" sz="4332" b="1" dirty="0">
                <a:solidFill>
                  <a:srgbClr val="2D2261"/>
                </a:solidFill>
                <a:latin typeface="Red Hat Display Bold"/>
              </a:rPr>
              <a:t>Q5: &gt; What percentage of sales is associated with returned orders?</a:t>
            </a:r>
            <a:endParaRPr lang="en-US" sz="4332" b="1" dirty="0">
              <a:solidFill>
                <a:srgbClr val="2D2261"/>
              </a:solidFill>
              <a:latin typeface="Red Hat Display Bold"/>
              <a:ea typeface="Red Hat Display Bold"/>
              <a:cs typeface="Red Hat Display Bold"/>
              <a:sym typeface="Red Hat Display Bold"/>
            </a:endParaRPr>
          </a:p>
        </p:txBody>
      </p:sp>
      <p:sp>
        <p:nvSpPr>
          <p:cNvPr id="35" name="Freeform 35">
            <a:extLst>
              <a:ext uri="{FF2B5EF4-FFF2-40B4-BE49-F238E27FC236}">
                <a16:creationId xmlns:a16="http://schemas.microsoft.com/office/drawing/2014/main" id="{2FB7B35F-3236-DD42-600C-87867FADF41D}"/>
              </a:ext>
            </a:extLst>
          </p:cNvPr>
          <p:cNvSpPr/>
          <p:nvPr/>
        </p:nvSpPr>
        <p:spPr>
          <a:xfrm rot="-2080684">
            <a:off x="10082077" y="8242051"/>
            <a:ext cx="10960234" cy="7472887"/>
          </a:xfrm>
          <a:custGeom>
            <a:avLst/>
            <a:gdLst/>
            <a:ahLst/>
            <a:cxnLst/>
            <a:rect l="l" t="t" r="r" b="b"/>
            <a:pathLst>
              <a:path w="10960234" h="7472887">
                <a:moveTo>
                  <a:pt x="0" y="0"/>
                </a:moveTo>
                <a:lnTo>
                  <a:pt x="10960235" y="0"/>
                </a:lnTo>
                <a:lnTo>
                  <a:pt x="10960235" y="7472887"/>
                </a:lnTo>
                <a:lnTo>
                  <a:pt x="0" y="74728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6" name="Freeform 36">
            <a:extLst>
              <a:ext uri="{FF2B5EF4-FFF2-40B4-BE49-F238E27FC236}">
                <a16:creationId xmlns:a16="http://schemas.microsoft.com/office/drawing/2014/main" id="{B1E35B5E-6047-0AD1-D447-ACAF55C623EA}"/>
              </a:ext>
            </a:extLst>
          </p:cNvPr>
          <p:cNvSpPr/>
          <p:nvPr/>
        </p:nvSpPr>
        <p:spPr>
          <a:xfrm rot="9426524">
            <a:off x="-3984660" y="-4765086"/>
            <a:ext cx="9442126" cy="8000056"/>
          </a:xfrm>
          <a:custGeom>
            <a:avLst/>
            <a:gdLst/>
            <a:ahLst/>
            <a:cxnLst/>
            <a:rect l="l" t="t" r="r" b="b"/>
            <a:pathLst>
              <a:path w="9442126" h="8000056">
                <a:moveTo>
                  <a:pt x="0" y="0"/>
                </a:moveTo>
                <a:lnTo>
                  <a:pt x="9442126" y="0"/>
                </a:lnTo>
                <a:lnTo>
                  <a:pt x="9442126" y="8000056"/>
                </a:lnTo>
                <a:lnTo>
                  <a:pt x="0" y="80000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7" name="Freeform 37">
            <a:extLst>
              <a:ext uri="{FF2B5EF4-FFF2-40B4-BE49-F238E27FC236}">
                <a16:creationId xmlns:a16="http://schemas.microsoft.com/office/drawing/2014/main" id="{A06026BD-FC11-F70B-C5A6-1AE3AAFF4DFC}"/>
              </a:ext>
            </a:extLst>
          </p:cNvPr>
          <p:cNvSpPr/>
          <p:nvPr/>
        </p:nvSpPr>
        <p:spPr>
          <a:xfrm rot="-2624874">
            <a:off x="-884948" y="9077955"/>
            <a:ext cx="3242701" cy="1827704"/>
          </a:xfrm>
          <a:custGeom>
            <a:avLst/>
            <a:gdLst/>
            <a:ahLst/>
            <a:cxnLst/>
            <a:rect l="l" t="t" r="r" b="b"/>
            <a:pathLst>
              <a:path w="3242701" h="1827704">
                <a:moveTo>
                  <a:pt x="0" y="0"/>
                </a:moveTo>
                <a:lnTo>
                  <a:pt x="3242701" y="0"/>
                </a:lnTo>
                <a:lnTo>
                  <a:pt x="3242701" y="1827704"/>
                </a:lnTo>
                <a:lnTo>
                  <a:pt x="0" y="18277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8" name="Freeform 38">
            <a:extLst>
              <a:ext uri="{FF2B5EF4-FFF2-40B4-BE49-F238E27FC236}">
                <a16:creationId xmlns:a16="http://schemas.microsoft.com/office/drawing/2014/main" id="{8E817085-D074-67B4-0DF2-7B97EA4FE2F6}"/>
              </a:ext>
            </a:extLst>
          </p:cNvPr>
          <p:cNvSpPr/>
          <p:nvPr/>
        </p:nvSpPr>
        <p:spPr>
          <a:xfrm rot="2830696">
            <a:off x="16075185" y="-1028700"/>
            <a:ext cx="2835471" cy="4114800"/>
          </a:xfrm>
          <a:custGeom>
            <a:avLst/>
            <a:gdLst/>
            <a:ahLst/>
            <a:cxnLst/>
            <a:rect l="l" t="t" r="r" b="b"/>
            <a:pathLst>
              <a:path w="2835471" h="4114800">
                <a:moveTo>
                  <a:pt x="0" y="0"/>
                </a:moveTo>
                <a:lnTo>
                  <a:pt x="2835471" y="0"/>
                </a:lnTo>
                <a:lnTo>
                  <a:pt x="28354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43DD454-55D0-03B6-FEB2-AF88358934BD}"/>
              </a:ext>
            </a:extLst>
          </p:cNvPr>
          <p:cNvSpPr txBox="1"/>
          <p:nvPr/>
        </p:nvSpPr>
        <p:spPr>
          <a:xfrm>
            <a:off x="399111" y="5963738"/>
            <a:ext cx="83058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Recommendation:</a:t>
            </a:r>
          </a:p>
          <a:p>
            <a:pPr algn="ctr"/>
            <a:r>
              <a:rPr lang="en-US" sz="2800" dirty="0"/>
              <a:t>The company should investigate the main reasons for returns and identify products or categories with unusually high return rates to reduce potential revenue loss.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EE687A-ACCD-12DA-B775-A6FA2B4F6B38}"/>
              </a:ext>
            </a:extLst>
          </p:cNvPr>
          <p:cNvSpPr txBox="1"/>
          <p:nvPr/>
        </p:nvSpPr>
        <p:spPr>
          <a:xfrm>
            <a:off x="461570" y="3654911"/>
            <a:ext cx="755765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Approximately 5.41% of sales are associated with returned orders, while 94.59% are not returned.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E99085D-DD60-5662-2C42-B1439C4AA8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77400" y="2628900"/>
            <a:ext cx="6279057" cy="5976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252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6A5BE-535A-C07D-80D5-23CBE2BBD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89A288B3-44A0-B880-E770-A59152873D76}"/>
              </a:ext>
            </a:extLst>
          </p:cNvPr>
          <p:cNvSpPr txBox="1"/>
          <p:nvPr/>
        </p:nvSpPr>
        <p:spPr>
          <a:xfrm>
            <a:off x="1676400" y="841708"/>
            <a:ext cx="13106399" cy="15226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065"/>
              </a:lnSpc>
            </a:pPr>
            <a:r>
              <a:rPr lang="en-US" sz="4332" b="1" dirty="0">
                <a:solidFill>
                  <a:srgbClr val="2D2261"/>
                </a:solidFill>
                <a:latin typeface="Red Hat Display Bold"/>
              </a:rPr>
              <a:t>Q6: Which sub-categories have the highest number of negative-profit orders?</a:t>
            </a:r>
            <a:endParaRPr lang="en-US" sz="4332" b="1" dirty="0">
              <a:solidFill>
                <a:srgbClr val="2D2261"/>
              </a:solidFill>
              <a:latin typeface="Red Hat Display Bold"/>
              <a:ea typeface="Red Hat Display Bold"/>
              <a:cs typeface="Red Hat Display Bold"/>
              <a:sym typeface="Red Hat Display Bold"/>
            </a:endParaRPr>
          </a:p>
        </p:txBody>
      </p:sp>
      <p:sp>
        <p:nvSpPr>
          <p:cNvPr id="35" name="Freeform 35">
            <a:extLst>
              <a:ext uri="{FF2B5EF4-FFF2-40B4-BE49-F238E27FC236}">
                <a16:creationId xmlns:a16="http://schemas.microsoft.com/office/drawing/2014/main" id="{0DDC412E-E6CA-AE6A-6562-B0372AF1E80B}"/>
              </a:ext>
            </a:extLst>
          </p:cNvPr>
          <p:cNvSpPr/>
          <p:nvPr/>
        </p:nvSpPr>
        <p:spPr>
          <a:xfrm rot="-2080684">
            <a:off x="10082077" y="8242051"/>
            <a:ext cx="10960234" cy="7472887"/>
          </a:xfrm>
          <a:custGeom>
            <a:avLst/>
            <a:gdLst/>
            <a:ahLst/>
            <a:cxnLst/>
            <a:rect l="l" t="t" r="r" b="b"/>
            <a:pathLst>
              <a:path w="10960234" h="7472887">
                <a:moveTo>
                  <a:pt x="0" y="0"/>
                </a:moveTo>
                <a:lnTo>
                  <a:pt x="10960235" y="0"/>
                </a:lnTo>
                <a:lnTo>
                  <a:pt x="10960235" y="7472887"/>
                </a:lnTo>
                <a:lnTo>
                  <a:pt x="0" y="74728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6" name="Freeform 36">
            <a:extLst>
              <a:ext uri="{FF2B5EF4-FFF2-40B4-BE49-F238E27FC236}">
                <a16:creationId xmlns:a16="http://schemas.microsoft.com/office/drawing/2014/main" id="{4C74B169-C486-F176-8876-B7A5E7169DDC}"/>
              </a:ext>
            </a:extLst>
          </p:cNvPr>
          <p:cNvSpPr/>
          <p:nvPr/>
        </p:nvSpPr>
        <p:spPr>
          <a:xfrm rot="9426524">
            <a:off x="-3984660" y="-4765086"/>
            <a:ext cx="9442126" cy="8000056"/>
          </a:xfrm>
          <a:custGeom>
            <a:avLst/>
            <a:gdLst/>
            <a:ahLst/>
            <a:cxnLst/>
            <a:rect l="l" t="t" r="r" b="b"/>
            <a:pathLst>
              <a:path w="9442126" h="8000056">
                <a:moveTo>
                  <a:pt x="0" y="0"/>
                </a:moveTo>
                <a:lnTo>
                  <a:pt x="9442126" y="0"/>
                </a:lnTo>
                <a:lnTo>
                  <a:pt x="9442126" y="8000056"/>
                </a:lnTo>
                <a:lnTo>
                  <a:pt x="0" y="80000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7" name="Freeform 37">
            <a:extLst>
              <a:ext uri="{FF2B5EF4-FFF2-40B4-BE49-F238E27FC236}">
                <a16:creationId xmlns:a16="http://schemas.microsoft.com/office/drawing/2014/main" id="{25793F5C-BFD5-3C66-ACC9-24E447F701B7}"/>
              </a:ext>
            </a:extLst>
          </p:cNvPr>
          <p:cNvSpPr/>
          <p:nvPr/>
        </p:nvSpPr>
        <p:spPr>
          <a:xfrm rot="-2624874">
            <a:off x="-884948" y="9077955"/>
            <a:ext cx="3242701" cy="1827704"/>
          </a:xfrm>
          <a:custGeom>
            <a:avLst/>
            <a:gdLst/>
            <a:ahLst/>
            <a:cxnLst/>
            <a:rect l="l" t="t" r="r" b="b"/>
            <a:pathLst>
              <a:path w="3242701" h="1827704">
                <a:moveTo>
                  <a:pt x="0" y="0"/>
                </a:moveTo>
                <a:lnTo>
                  <a:pt x="3242701" y="0"/>
                </a:lnTo>
                <a:lnTo>
                  <a:pt x="3242701" y="1827704"/>
                </a:lnTo>
                <a:lnTo>
                  <a:pt x="0" y="18277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8" name="Freeform 38">
            <a:extLst>
              <a:ext uri="{FF2B5EF4-FFF2-40B4-BE49-F238E27FC236}">
                <a16:creationId xmlns:a16="http://schemas.microsoft.com/office/drawing/2014/main" id="{259777D0-00FD-309A-B7B3-F65EE91AFE99}"/>
              </a:ext>
            </a:extLst>
          </p:cNvPr>
          <p:cNvSpPr/>
          <p:nvPr/>
        </p:nvSpPr>
        <p:spPr>
          <a:xfrm rot="2830696">
            <a:off x="16075185" y="-1028700"/>
            <a:ext cx="2835471" cy="4114800"/>
          </a:xfrm>
          <a:custGeom>
            <a:avLst/>
            <a:gdLst/>
            <a:ahLst/>
            <a:cxnLst/>
            <a:rect l="l" t="t" r="r" b="b"/>
            <a:pathLst>
              <a:path w="2835471" h="4114800">
                <a:moveTo>
                  <a:pt x="0" y="0"/>
                </a:moveTo>
                <a:lnTo>
                  <a:pt x="2835471" y="0"/>
                </a:lnTo>
                <a:lnTo>
                  <a:pt x="28354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949F1D5-0890-8985-FE6C-CC590CF7F760}"/>
              </a:ext>
            </a:extLst>
          </p:cNvPr>
          <p:cNvSpPr txBox="1"/>
          <p:nvPr/>
        </p:nvSpPr>
        <p:spPr>
          <a:xfrm>
            <a:off x="304800" y="6338584"/>
            <a:ext cx="8305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Recommendation:</a:t>
            </a:r>
          </a:p>
          <a:p>
            <a:pPr algn="ctr"/>
            <a:r>
              <a:rPr lang="en-US" sz="2800" dirty="0"/>
              <a:t>The business should review pricing, costs, and discount levels for Binders, Chairs, and Tables to reduce loss-making orders..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666F44-C495-A928-12B4-DB28FC554CFE}"/>
              </a:ext>
            </a:extLst>
          </p:cNvPr>
          <p:cNvSpPr txBox="1"/>
          <p:nvPr/>
        </p:nvSpPr>
        <p:spPr>
          <a:xfrm>
            <a:off x="1052948" y="3946590"/>
            <a:ext cx="755765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Binders have the highest number of negative-profit orders, followed by Chairs and Tables.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C89ECBB-3D92-8DF6-993B-AA032F0049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1311" y="3467025"/>
            <a:ext cx="8652633" cy="5094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489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586</TotalTime>
  <Words>329</Words>
  <Application>Microsoft Office PowerPoint</Application>
  <PresentationFormat>Custom</PresentationFormat>
  <Paragraphs>25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Calibri</vt:lpstr>
      <vt:lpstr>Arial</vt:lpstr>
      <vt:lpstr>Red Hat Display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Cream Illustrative SWOT Analysis Presentation</dc:title>
  <dc:creator>Tech</dc:creator>
  <cp:lastModifiedBy>Demiana Danyal</cp:lastModifiedBy>
  <cp:revision>2</cp:revision>
  <dcterms:created xsi:type="dcterms:W3CDTF">2006-08-16T00:00:00Z</dcterms:created>
  <dcterms:modified xsi:type="dcterms:W3CDTF">2026-08-09T06:33:06Z</dcterms:modified>
  <dc:identifier>DAHRvNkOL9Y</dc:identifier>
</cp:coreProperties>
</file>